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D166"/>
                </a:solidFill>
                <a:latin typeface="Calibri"/>
              </a:rPr>
              <a:t>Behavioral Threat Detection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AEEFF"/>
                </a:solidFill>
                <a:latin typeface="Calibri"/>
              </a:rPr>
              <a:t>Using Unsupervised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  <a:latin typeface="Calibri"/>
              </a:rPr>
              <a:t>K-Means  ·  DBSCAN  ·  Isolation Forest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611880" cy="2468880"/>
          </a:xfrm>
          <a:prstGeom prst="rect">
            <a:avLst/>
          </a:prstGeom>
          <a:solidFill>
            <a:srgbClr val="0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  <a:latin typeface="Calibri"/>
              </a:rPr>
              <a:t>175,341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AEEFF"/>
                </a:solidFill>
                <a:latin typeface="Calibri"/>
              </a:rPr>
              <a:t>Flow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2743200"/>
            <a:ext cx="3611880" cy="2468880"/>
          </a:xfrm>
          <a:prstGeom prst="rect">
            <a:avLst/>
          </a:prstGeom>
          <a:solidFill>
            <a:srgbClr val="0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306324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166"/>
                </a:solidFill>
                <a:latin typeface="Calibri"/>
              </a:rPr>
              <a:t>K =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388620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AEEFF"/>
                </a:solidFill>
                <a:latin typeface="Calibri"/>
              </a:rPr>
              <a:t>Clusters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2743200"/>
            <a:ext cx="3611880" cy="2468880"/>
          </a:xfrm>
          <a:prstGeom prst="rect">
            <a:avLst/>
          </a:prstGeom>
          <a:solidFill>
            <a:srgbClr val="0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06324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F476F"/>
                </a:solidFill>
                <a:latin typeface="Calibri"/>
              </a:rPr>
              <a:t>3.98 %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88620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AEEFF"/>
                </a:solidFill>
                <a:latin typeface="Calibri"/>
              </a:rPr>
              <a:t>Anomaly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825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8"/>
                </a:solidFill>
                <a:latin typeface="Calibri"/>
              </a:rPr>
              <a:t>Dataset: UNSW-NB15 Benchmark  |  2nd Year DT — Unsupervised Learning  |  March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070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Enterprise SOCs face: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60020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High alert volume — thousands of events daily with no priority order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Signature-based detection limitations — only catches known attack patterns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Zero-day blind spots — novel attacks pass through undetected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No behavioral prioritization — analysts triage manually and randomly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Result: critical threats buried in the noise, MTTD = days to weeks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07008"/>
            <a:ext cx="5468112" cy="2926080"/>
          </a:xfrm>
          <a:prstGeom prst="rect">
            <a:avLst/>
          </a:prstGeom>
          <a:solidFill>
            <a:srgbClr val="0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2984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Core Question: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7373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EEFF"/>
                </a:solidFill>
                <a:latin typeface="Calibri"/>
              </a:rPr>
              <a:t>"Can we group network sessions by
behavior and surface the most suspicious
ones — without using labels?"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5212080"/>
            <a:ext cx="11475720" cy="14173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Our Answer: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EFF"/>
                </a:solidFill>
                <a:latin typeface="Calibri"/>
              </a:rPr>
              <a:t>Segment all sessions by behavioral patterns (K-Means) → detect anomalies without labels (DBSCAN + Isolation Forest) → produce a ranked SOC queue so analysts tackle highest-risk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Calibri"/>
              </a:rPr>
              <a:t>Dataset — UNSW-NB15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Clear &amp; Honest Disclosure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2070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About the Dataset: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020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175,341 network flow records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45 features per session (volume, timing, protocol, behaviour)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Simulated in a controlled lab using IXIA PerfectStorm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10 labelled attack categories: DoS, Recon, Exploits, Backdoor …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Published by Australian Centre for Cybersecurity, UNSW Canberra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Widely used benchmark in academic cybersecurity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07008"/>
            <a:ext cx="5468112" cy="3200400"/>
          </a:xfrm>
          <a:prstGeom prst="rect">
            <a:avLst/>
          </a:prstGeom>
          <a:solidFill>
            <a:srgbClr val="0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2984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  <a:latin typeface="Calibri"/>
              </a:rPr>
              <a:t>⚠  Important — Be Clear: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7373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CAEEFF"/>
                </a:solidFill>
                <a:latin typeface="Calibri"/>
              </a:rPr>
              <a:t>▸  This is NOT live corporate data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CAEEFF"/>
                </a:solidFill>
                <a:latin typeface="Calibri"/>
              </a:rPr>
              <a:t>▸  It is a controlled research benchmark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CAEEFF"/>
                </a:solidFill>
                <a:latin typeface="Calibri"/>
              </a:rPr>
              <a:t>▸  Labels were NOT used during model training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CAEEFF"/>
                </a:solidFill>
                <a:latin typeface="Calibri"/>
              </a:rPr>
              <a:t>▸  Labels used only for post-hoc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5486400"/>
            <a:ext cx="11475720" cy="10972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"We use UNSW-NB15 to demonstrate how a behavioral detection framework would operate in a real enterprise SOC. The methodology is directly transferable to live corporate traffic."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Calibri"/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Converting Raw Network Flows into Behavioral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207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Features Representing: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627632"/>
            <a:ext cx="5486400" cy="521207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19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190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8"/>
                </a:solidFill>
                <a:latin typeface="Calibri"/>
              </a:rPr>
              <a:t>sbytes, dbytes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194560"/>
            <a:ext cx="5486400" cy="521207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286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Packets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2860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8"/>
                </a:solidFill>
                <a:latin typeface="Calibri"/>
              </a:rPr>
              <a:t>spkts, dpkts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761488"/>
            <a:ext cx="5486400" cy="521207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8529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8529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8"/>
                </a:solidFill>
                <a:latin typeface="Calibri"/>
              </a:rPr>
              <a:t>dur, synack, ackdat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328416"/>
            <a:ext cx="5486400" cy="521207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4198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Protocol/Service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41985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8"/>
                </a:solidFill>
                <a:latin typeface="Calibri"/>
              </a:rPr>
              <a:t>proto, service,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895344"/>
            <a:ext cx="5486400" cy="521207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9867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Timing /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98678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8"/>
                </a:solidFill>
                <a:latin typeface="Calibri"/>
              </a:rPr>
              <a:t>rate, sload, dload, sinpkt, dinpkt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2070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Engineered Behavioral Features: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627632"/>
            <a:ext cx="5943600" cy="10241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68249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EEFF"/>
                </a:solidFill>
                <a:latin typeface="Calibri"/>
              </a:rPr>
              <a:t>Outbound Dominance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011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A8C8"/>
                </a:solidFill>
                <a:latin typeface="Calibri"/>
              </a:rPr>
              <a:t>sbytes / (sbytes + dbytes + ε)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286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Detects: exfiltration — sends far more than receives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743200"/>
            <a:ext cx="5943600" cy="10241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79806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EEFF"/>
                </a:solidFill>
                <a:latin typeface="Calibri"/>
              </a:rPr>
              <a:t>Packet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12724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A8C8"/>
                </a:solidFill>
                <a:latin typeface="Calibri"/>
              </a:rPr>
              <a:t>(spkts + dpkts) / (dur + ε)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4015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Detects: scanning floods — extreme packets per second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858768"/>
            <a:ext cx="5943600" cy="10241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9136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EEFF"/>
                </a:solidFill>
                <a:latin typeface="Calibri"/>
              </a:rPr>
              <a:t>Bytes per Packet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24281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A8C8"/>
                </a:solidFill>
                <a:latin typeface="Calibri"/>
              </a:rPr>
              <a:t>total_bytes / total_packets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51713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Detects: bulk vs interactive sessions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4974336"/>
            <a:ext cx="5943600" cy="10241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50292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EEFF"/>
                </a:solidFill>
                <a:latin typeface="Calibri"/>
              </a:rPr>
              <a:t>Packet Asymmetry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35838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A8C8"/>
                </a:solidFill>
                <a:latin typeface="Calibri"/>
              </a:rPr>
              <a:t>(spkts − dpkts) / (spkts + dpkts + ε)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63270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Detects: one-sided sessions — scan with no 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6382512"/>
            <a:ext cx="11475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Purpose: Convert raw flows into discriminative behavioral signals that K-Means can cluster.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Calibri"/>
              </a:rPr>
              <a:t>Clustering — Why K-Means?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Segmenting Traffic into Behavioral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11475720" cy="566928"/>
          </a:xfrm>
          <a:prstGeom prst="rect">
            <a:avLst/>
          </a:prstGeom>
          <a:solidFill>
            <a:srgbClr val="0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9844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Goal:  Assign every network session to a behavioral group automatically — no labels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How it works: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3317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Assign each session to its nearest centroid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Minimize within-cluster variance (squared distance)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Euclidean distance in standardized feature space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Repeat until centroids converge — K-Means++ initialization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Why chosen: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5193792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Scales well to 175,000+ sessions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Centroids are interpretable — readable behavioral profiles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Deterministic with K-Means++ seeding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Clear output: SOC-readable cluster labels per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Why NOT alternatives: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59152"/>
            <a:ext cx="5486400" cy="9144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140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  <a:latin typeface="Calibri"/>
              </a:rPr>
              <a:t>Hierarchical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797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EFF"/>
                </a:solidFill>
                <a:latin typeface="Calibri"/>
              </a:rPr>
              <a:t>✗  O(n²) memory — infeasible at 175K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364992"/>
            <a:ext cx="5486400" cy="9144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  <a:latin typeface="Calibri"/>
              </a:rPr>
              <a:t>GMM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78561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EFF"/>
                </a:solidFill>
                <a:latin typeface="Calibri"/>
              </a:rPr>
              <a:t>✗  Assumes Gaussian — traffic is skewed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370832"/>
            <a:ext cx="5486400" cy="9144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4256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  <a:latin typeface="Calibri"/>
              </a:rPr>
              <a:t>Mean Shift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9145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EFF"/>
                </a:solidFill>
                <a:latin typeface="Calibri"/>
              </a:rPr>
              <a:t>✗  No K needed but too slow at this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5376672"/>
            <a:ext cx="5486400" cy="9144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4315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  <a:latin typeface="Calibri"/>
              </a:rPr>
              <a:t>OPTICS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79729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EFF"/>
                </a:solidFill>
                <a:latin typeface="Calibri"/>
              </a:rPr>
              <a:t>✗  Density-based — weaker centroid clarity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Calibri"/>
              </a:rPr>
              <a:t>Choosing K — Silhouette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Tested K = 2 → 10  |  Selected K = 10</a:t>
            </a:r>
          </a:p>
        </p:txBody>
      </p:sp>
      <p:pic>
        <p:nvPicPr>
          <p:cNvPr id="6" name="Picture 5" descr="silhouette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07008"/>
            <a:ext cx="566928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63640" y="1207008"/>
            <a:ext cx="5577840" cy="48463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984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What we found: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Tested K from 2 to 10 using Silhouette Score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Highest score at K = 10  (score = 0.353)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Score ≈ 0.35 is acceptable in high-dimensional space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K = 10 gave better isolation of rare clusters vs K = 7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Score stable across 3 random seeds (variance &lt; 0.01)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572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Why silhouette ≈ 0.35 is acceptable: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98348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CAEEFF"/>
                </a:solidFill>
                <a:latin typeface="Calibri"/>
              </a:rPr>
              <a:t>▸  22-dimensional feature space — perfect separation is unlikely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CAEEFF"/>
                </a:solidFill>
                <a:latin typeface="Calibri"/>
              </a:rPr>
              <a:t>▸  Network traffic clusters overlap by nature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CAEEFF"/>
                </a:solidFill>
                <a:latin typeface="Calibri"/>
              </a:rPr>
              <a:t>▸  Comparable published results: 0.30 – 0.40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Calibri"/>
              </a:rPr>
              <a:t>Cluster Results — What Was Found?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K = 10 Behavioral Segments  |  3 Rare High-Risk Clusters</a:t>
            </a:r>
          </a:p>
        </p:txBody>
      </p:sp>
      <p:pic>
        <p:nvPicPr>
          <p:cNvPr id="6" name="Picture 5" descr="kmeans_cluster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07008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20700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What the clusters show: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4592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Majority of traffic grouped into normal behavioral clusters (~90%)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3 rare clusters identified — each under 1% of traffic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Rare clusters flagged automatically for higher investigation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33832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Example Rare Cluster Behaviors: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3822191"/>
            <a:ext cx="5943600" cy="80467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61888" y="3822191"/>
            <a:ext cx="201168" cy="80467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3858767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  <a:latin typeface="Calibri"/>
              </a:rPr>
              <a:t>Cluster 6 —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51375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EFF"/>
                </a:solidFill>
                <a:latin typeface="Calibri"/>
              </a:rPr>
              <a:t>Extreme outbound volume  (spkts: +40×)  |  Long duration  (+8×)
→  Exfiltration-like behavior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61888" y="4700015"/>
            <a:ext cx="5943600" cy="80467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61888" y="4700015"/>
            <a:ext cx="201168" cy="8046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4736591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Calibri"/>
              </a:rPr>
              <a:t>Cluster 3 — 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5029199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EFF"/>
                </a:solidFill>
                <a:latin typeface="Calibri"/>
              </a:rPr>
              <a:t>High inbound burst  +  elevated packet loss
→  Scanning / Flood pattern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61888" y="5577839"/>
            <a:ext cx="5943600" cy="80467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61888" y="5577839"/>
            <a:ext cx="201168" cy="8046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561441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Calibri"/>
              </a:rPr>
              <a:t>Cluster 9 — 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5907023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EFF"/>
                </a:solidFill>
                <a:latin typeface="Calibri"/>
              </a:rPr>
              <a:t>Irregular packet timing  +  one-sided asymmetry
→  Covert beacon / FTP-heavy traffic</a:t>
            </a:r>
          </a:p>
        </p:txBody>
      </p:sp>
      <p:pic>
        <p:nvPicPr>
          <p:cNvPr id="22" name="Picture 21" descr="kmean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617720"/>
            <a:ext cx="5303520" cy="20116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Calibri"/>
              </a:rPr>
              <a:t>Anomaly Detection — Why DBSCAN?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Detecting Sessions with No Dense Behavioral Neighborhood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11475720" cy="566928"/>
          </a:xfrm>
          <a:prstGeom prst="rect">
            <a:avLst/>
          </a:prstGeom>
          <a:solidFill>
            <a:srgbClr val="0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9844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Purpose:  Detect sessions that do not belong to any dense behavioral region.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How it works: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33172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Density-based — defines neighborhoods by radius  ε = 1.5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Core point: ≥ 10 neighbors within the radius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Sessions with no core-point neighbor → Noise (label = −1)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Noise sessions = anomaly candidates for the SOC queue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~4% flagged  (6,983 sessions  =  3.98% of data)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Captures locally unusual behavior — even within 'normal' ranges</a:t>
            </a:r>
          </a:p>
        </p:txBody>
      </p:sp>
      <p:pic>
        <p:nvPicPr>
          <p:cNvPr id="10" name="Picture 9" descr="dbsca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07008"/>
            <a:ext cx="5852160" cy="4937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47472" y="6144768"/>
            <a:ext cx="1147572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199632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Key:  Density anomaly ≠ global outlier.  DBSCAN catches locally rare sessions;  Isolation Forest catches globally extreme ones.  Both complement K-Means.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Calibri"/>
              </a:rPr>
              <a:t>Anomaly Detection — Why Isolation Forest?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Detecting Globally Extreme Outliers Without Distance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11475720" cy="566928"/>
          </a:xfrm>
          <a:prstGeom prst="rect">
            <a:avLst/>
          </a:prstGeom>
          <a:solidFill>
            <a:srgbClr val="0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9844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Purpose:  Detect sessions with a globally extreme behavior profile.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How it works: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331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Builds an ensemble of random decision trees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Anomaly = isolated early in the tree (short path length)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No distance metric — avoids curse of dimensionality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~4% anomaly rate  (contamination = 0.04)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Handles high-dimensional data better than DBSCAN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Catches rare globally anomalous sessions — even in dense regions</a:t>
            </a:r>
          </a:p>
        </p:txBody>
      </p:sp>
      <p:pic>
        <p:nvPicPr>
          <p:cNvPr id="10" name="Picture 9" descr="isolation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07008"/>
            <a:ext cx="5852160" cy="4937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47472" y="5577840"/>
            <a:ext cx="11475720" cy="105156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64184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  <a:latin typeface="Calibri"/>
              </a:rPr>
              <a:t>Consensus: Sessions flagged by BOTH DBSCAN and Isolation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989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  <a:latin typeface="Calibri"/>
              </a:rPr>
              <a:t>→  Highest confidence anomaly tier  |  Investigated first in the SOC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Calibri"/>
              </a:rPr>
              <a:t>Combined Framework — 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Dual-Method Consensus → SOC Priority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9876" y="1207008"/>
            <a:ext cx="5029200" cy="658368"/>
          </a:xfrm>
          <a:prstGeom prst="rect">
            <a:avLst/>
          </a:prstGeom>
          <a:solidFill>
            <a:srgbClr val="0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7036" y="12618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  <a:latin typeface="Calibri"/>
              </a:rP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7036" y="15910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A8C8"/>
                </a:solidFill>
                <a:latin typeface="Calibri"/>
              </a:rPr>
              <a:t>175,341 UNSW-NB15 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1776" y="1865376"/>
            <a:ext cx="38100" cy="1463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79876" y="2011680"/>
            <a:ext cx="5029200" cy="65836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7036" y="20665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AEEFF"/>
                </a:solidFill>
                <a:latin typeface="Calibri"/>
              </a:rPr>
              <a:t>Feature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7036" y="23957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A8C8"/>
                </a:solidFill>
                <a:latin typeface="Calibri"/>
              </a:rPr>
              <a:t>22 features  |  4 behavioral ratios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1776" y="2670048"/>
            <a:ext cx="38100" cy="1463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79876" y="2816352"/>
            <a:ext cx="5029200" cy="65836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7036" y="287121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AEEFF"/>
                </a:solidFill>
                <a:latin typeface="Calibri"/>
              </a:rPr>
              <a:t>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7036" y="32004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A8C8"/>
                </a:solidFill>
                <a:latin typeface="Calibri"/>
              </a:rPr>
              <a:t>StandardScaler — zero mean, unit var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1776" y="3474720"/>
            <a:ext cx="38100" cy="1463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79876" y="3621024"/>
            <a:ext cx="5029200" cy="658368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7036" y="367588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Calibri"/>
              </a:rPr>
              <a:t>K-Means Segmentation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7036" y="40050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A8C8"/>
                </a:solidFill>
                <a:latin typeface="Calibri"/>
              </a:rPr>
              <a:t>K = 10  |  Behavioral cluster per session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1776" y="4279392"/>
            <a:ext cx="38100" cy="1463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79876" y="4425696"/>
            <a:ext cx="5029200" cy="658368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17036" y="448056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76F"/>
                </a:solidFill>
                <a:latin typeface="Calibri"/>
              </a:rPr>
              <a:t>DBSCAN + Isolation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7036" y="48097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A8C8"/>
                </a:solidFill>
                <a:latin typeface="Calibri"/>
              </a:rPr>
              <a:t>Density anomaly + global outlier flag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1776" y="5084064"/>
            <a:ext cx="38100" cy="1463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79876" y="5230368"/>
            <a:ext cx="5029200" cy="658368"/>
          </a:xfrm>
          <a:prstGeom prst="rect">
            <a:avLst/>
          </a:prstGeom>
          <a:solidFill>
            <a:srgbClr val="00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7036" y="528523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  <a:latin typeface="Calibri"/>
              </a:rPr>
              <a:t>Risk Tiering → SOC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7036" y="56144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A8C8"/>
                </a:solidFill>
                <a:latin typeface="Calibri"/>
              </a:rPr>
              <a:t>CRITICAL / HIGH / ELEVATED ranking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5480" y="1207008"/>
            <a:ext cx="2286000" cy="53035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2984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Why combine?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73736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>
                <a:solidFill>
                  <a:srgbClr val="CAEEFF"/>
                </a:solidFill>
                <a:latin typeface="Calibri"/>
              </a:rPr>
              <a:t>▸  Segmentation → behavioral context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CAEEFF"/>
                </a:solidFill>
                <a:latin typeface="Calibri"/>
              </a:rPr>
              <a:t>▸  DBSCAN → locally rare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CAEEFF"/>
                </a:solidFill>
                <a:latin typeface="Calibri"/>
              </a:rPr>
              <a:t>▸  IF → globally extreme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CAEEFF"/>
                </a:solidFill>
                <a:latin typeface="Calibri"/>
              </a:rPr>
              <a:t>▸  K-Means rare clusters → small segments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CAEEFF"/>
                </a:solidFill>
                <a:latin typeface="Calibri"/>
              </a:rPr>
              <a:t>▸  Consensus → fewer false positives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Calibri"/>
              </a:rPr>
              <a:t>Validation — Post-Hoc Check with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Labels NOT Used During Training — Used Only Here to Confirm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887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Cluster × Attack Category</a:t>
            </a:r>
          </a:p>
        </p:txBody>
      </p:sp>
      <p:pic>
        <p:nvPicPr>
          <p:cNvPr id="7" name="Picture 6" descr="cluster_attac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572768"/>
            <a:ext cx="566928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Cluster Risk Scoring</a:t>
            </a:r>
          </a:p>
        </p:txBody>
      </p:sp>
      <p:pic>
        <p:nvPicPr>
          <p:cNvPr id="9" name="Picture 8" descr="cluster_risk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72768"/>
            <a:ext cx="548640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47472" y="5532120"/>
            <a:ext cx="11475720" cy="10972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59612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What it confirms: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5943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EFF"/>
                </a:solidFill>
                <a:latin typeface="Calibri"/>
              </a:rPr>
              <a:t>Cluster 6 → DoS / Exploit dominant  |  Cluster 3 → Reconnaissance concentrated  |  Cluster 9 → Backdoor / Shellcode patterns  |  Normal clusters → majority Normal label.  Behavioral grouping is meaningful. Labels agree post-hoc.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Calibri"/>
              </a:rPr>
              <a:t>Business Impact  &amp; 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What This Changes for SOC Teams — and What We Acknowledge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5623560" cy="5303520"/>
          </a:xfrm>
          <a:prstGeom prst="rect">
            <a:avLst/>
          </a:prstGeom>
          <a:solidFill>
            <a:srgbClr val="003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98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Calibri"/>
              </a:rPr>
              <a:t>✅  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55648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SOC investigation prioritization — CRITICAL tier first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Reduced alert fatigue — only ~4% flagged for review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Faster threat detection — ranked queue, no manual triage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Detects unknown/zero-day attacks via behavioral anomaly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Scales to any data volume — online K-Means updatable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Framework ready for SIEM integration (Splunk, QRadar)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07008"/>
            <a:ext cx="38100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07008"/>
            <a:ext cx="5532120" cy="530352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98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  <a:latin typeface="Calibri"/>
              </a:rPr>
              <a:t>⚠ 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755648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Benchmark dataset — not live enterprise traffic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Parameter sensitivity — eps, min_samples are empirical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High-dimensional clustering — silhouette degrades in 22D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Concept drift — attackers adapt, model needs periodic retraining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AEEFF"/>
                </a:solidFill>
                <a:latin typeface="Calibri"/>
              </a:rPr>
              <a:t>▸  No precision/recall — unsupervised paradigm, no test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653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